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0B981"/>
                </a:solidFill>
              </a:rPr>
              <a:t>FINQUANT-NEXUS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508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BBF24"/>
                </a:solidFill>
              </a:rPr>
              <a:t>v4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4A3B8"/>
                </a:solidFill>
              </a:rPr>
              <a:t>Self-Optimizing Federated Portfolio Intelligence Platform for NIFTY 50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8FAFC"/>
                </a:solidFill>
              </a:rPr>
              <a:t>Praveen Rawal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M.Tech – Data Science &amp; Machine Learning  |  2nd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BBF24"/>
                </a:solidFill>
              </a:rPr>
              <a:t>Project Review –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035040"/>
            <a:ext cx="21031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Reinforcement Learning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6035040"/>
            <a:ext cx="21031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60533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Graph Neural Networks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6035040"/>
            <a:ext cx="21031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60533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Federated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6035040"/>
            <a:ext cx="21031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60533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FinBERT Sentiment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6035040"/>
            <a:ext cx="210312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60533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NIFTY 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029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188720"/>
            <a:ext cx="429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143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Why existing portfolio systems fall short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01368"/>
            <a:ext cx="5029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847088"/>
            <a:ext cx="429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013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Solution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574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Architecture &amp; approach of FINQUANT-NEXUS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59736"/>
            <a:ext cx="5029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2505456"/>
            <a:ext cx="429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4597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15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NIFTY 50 data, sources, and preprocessing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18104"/>
            <a:ext cx="5029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3163824"/>
            <a:ext cx="429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1181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Tabs &amp;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741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7 interactive modules — deep dive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43000"/>
            <a:ext cx="5029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1188720"/>
            <a:ext cx="429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143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Tech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3990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Frontend, backend, and ML libraries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801368"/>
            <a:ext cx="5029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1847088"/>
            <a:ext cx="429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8013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Key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0574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Performance metrics achieved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459736"/>
            <a:ext cx="5029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496" y="2505456"/>
            <a:ext cx="429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4597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Future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715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Remaining 20% — roadmap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118104"/>
            <a:ext cx="5029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3163824"/>
            <a:ext cx="429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1181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</a:rPr>
              <a:t>Conclusion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3741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Summary and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Gaps in modern portfolio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240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22402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Static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Markowitz &amp; MPT assume fixed correlations &amp; normal returns. Markets are dynamic, non-stationary, and regime-changing.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577840" cy="2240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73152" cy="2240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Ignored News &amp; Sentiment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Price-only models miss news signals. Earnings surprises, macroeconomic announcements move stocks within hours — before price reflects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5577840" cy="2240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73152" cy="2240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No Privacy in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Fund houses cannot share raw trade data (SEBI / GDPR). Collaborative model training was impossible — until federated learning.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03320"/>
            <a:ext cx="5577840" cy="2240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703320"/>
            <a:ext cx="73152" cy="2240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Missing Stock Relationships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06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Stocks treated as independent entities. Supply-chain links, sector co-movements, and correlations are completely ignored.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6217920"/>
            <a:ext cx="5577840" cy="2240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6217920"/>
            <a:ext cx="73152" cy="2240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6355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No Stress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67208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Most models optimize for returns only. No testing against real crash scenarios: 2008 crisis, COVID crash, flash crashes.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FINQUANT-NEXUS v4 — 3-layer intelligent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3749039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37360" y="1325880"/>
            <a:ext cx="9144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3258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Layer 1 — Data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→  Yahoo Finance: NIFTY 50 prices (2015–2025, ~10 years)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→  Google News RSS: live headlines for 44 stocks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4632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→  21 technical indicators: RSI, MACD, Bollinger Bands, ATR…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188720"/>
            <a:ext cx="3749039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188720"/>
            <a:ext cx="3749039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96712" y="1325880"/>
            <a:ext cx="91440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13258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96596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Layer 2 — Model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56032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→  T-GAT: Temporal Graph Attention Network — 3 edge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70332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→  5 RL Agents (PPO · SAC · TD3 · A2C · DDPG) → Ensemble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84632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→  FinBERT: domain-specific financial NLP (ProsusAI/finbert)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38744" y="1188720"/>
            <a:ext cx="3749039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8744" y="118872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56064" y="1325880"/>
            <a:ext cx="9144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4" y="132588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196596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Layer 3 — Federated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56032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→  4 sector clients: Banking · Finance · IT · Others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370332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→  FedProx aggregation — handles non-IID sector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4846320"/>
            <a:ext cx="35204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→  DP-SGD privacy: ε=8.0, δ=10⁻⁵ — gradient noise injection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0B981"/>
                </a:solidFill>
              </a:rPr>
              <a:t>Final Output: Privacy-preserving, ensemble-optimized NIFTY 50 portfolio allocation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Dataset &amp;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Real-world financial data — no synthetic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Price Data — Yahoo Finance (yfinance)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Universe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83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NIFTY 50 — India's top 50 large-cap stocks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44 stocks with complete data (of 50)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971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January 2015 – December 2025 (~10 years)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Granularity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Daily OHLCV + adjusted 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21 technical indicators per stock per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Train: 2015–2022  |  Validate: 2022–2025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349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all_close_prices.csv — avoids repeated API 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188720"/>
            <a:ext cx="566928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News Data — Google News RSS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783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22 (20 stock-specific + 2 market-wide)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4048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Fetch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4048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Live HTTP requests — real-time headlines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266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NLP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2666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FinBERT (ProsusAI) — financial domain BERT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6484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64845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Score [-1,+1] + positive/neutral/negative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2702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Refresh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2702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Auto-refresh every 3 minutes in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703320"/>
            <a:ext cx="56692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794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21 Technical Indicators (Feature Engineering)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29768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RSI · MACD · MACD Signal · Bollinger Upper/Mid/Lower · ATR · OBV · CCI · Williams %R · Stochastic K/D · EMA-5/10/20/50 · SMA-20 · ROC · MFI · VWAP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0B981"/>
                </a:solidFill>
              </a:rPr>
              <a:t>Portfolio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Route: /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21208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Final optimized output of the system — shows performance metrics, all 44 NIFTY holdings, sector allocation, and portfolio vs NIFTY benchmark chart.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6 metric cards: Sharpe, Sortino, Return, Volatility, Drawdown (with badge thresholds)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Holdings table: 44 stocks, weight%, return%, color-coded sector dots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58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Sector allocation: horizontal BarChart (11 sectors)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70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Stock click → 60-day price chart, 52W range, risk grid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8289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Investment Simulator: ₹ input → per-stock P&amp;L + Growth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94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3-way benchmark: RL Portfolio vs NIFTY 50 vs FD (7%)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005840"/>
            <a:ext cx="58521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APIs &amp;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/api/portfolio-summary  →  Sharpe, holdings, sector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075688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/api/stock/{ticker}    →  60-day history, 52W H/L, daily 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42615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/api/portfolio-growth  →  Time-series: Portfolio vs NIFTY vs 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9544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/api/refresh-data      →  Live yfinance pull (Yahoo Finance)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76472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Sharpe = (Return − 7%) / σ  |  Sortino uses downside σ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34340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Investment Sim: softmax weights × invested amount × 1Y 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910327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Recharts: BarChart, AreaChart, LineChart (3-series growth)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★  Real 10-year NIFTY data + interactive simulator with 3-way benchmark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</a:rPr>
              <a:t>RL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Route: /rl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21208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Trains and compares 5 reinforcement learning algorithms on NIFTY 50 portfolio allocation. Ensemble combines all 5 for best risk-adjusted returns.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6 algo selector: PPO · SAC · TD3 · A2C · DDPG · Ensemble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Comparison table: Sharpe, Sortino, Return, Volatility, Drawdown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58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3-tab charts: Training Rewards / Cumulative Returns /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70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Sector allocation donut per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8289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Return contribution list: top 15 stocks with animated bars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94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Constraints panel: position limits, stop-loss, circuit breaker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005840"/>
            <a:ext cx="58521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RL Algorithms &amp;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Stable-Baselines3: PPO (clipped PG), SAC (entropy reg.), TD3 (twin critics)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075688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Environment: 21 features × 44 stocks state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42615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Reward: Sharpe ratio at each rebalancing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9544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Constraints: max pos 20%, stop-loss -5%, tx cost 0.1%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76472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Train: 2019–2022 | Validate: 2022–2023 (unseen split)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34340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Ensemble = weighted average of 5 agent 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910327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Recharts: AreaChart (rewards), LineChart (returns), PieChart (sector)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★  5 independent algorithms + ensemble — diversity reduces variance, outperforms any single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87171"/>
                </a:solidFill>
              </a:rPr>
              <a:t>Stress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Route: /stress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21208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Tests portfolio resilience under 4 historical crash scenarios using Monte Carlo simulation. Computes VaR and CVaR — industry-standard risk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4 crash scenarios: Normal / 2008 Crisis / COVID Crash / Flash Crash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Metrics: VaR 95%, CVaR 95%, Survival Rate, Mean Return per 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58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Monte Carlo fan chart: 30 simulated paths over 60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70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Color-coded risk severity (green → dark red)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8289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User-configurable: n_stocks (2–47), n_simulations (100–50K)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94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Expandable metric cards with formula explanations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005840"/>
            <a:ext cx="58521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Risk Computation 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/api/stress-test  POST {n_stocks, n_simulations}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075688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Monte Carlo: multivariate normal returns × correlation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42615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2008 params: 3.5% daily vol + 30% correlation spike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9544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COVID params: 5.0% daily vol + 40% correlation spike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76472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Flash params: 8.0% daily vol, 5-day extreme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34340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VaR 95% = 5th percentile of all simulation final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910327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CVaR 95% = E[loss | loss &gt; VaR] — coherent risk measure (Basel III)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★  VaR + CVaR with 4 real crisis calibrations — portfolio survives 82%+ of COVID simulations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78BFA"/>
                </a:solidFill>
              </a:rPr>
              <a:t>Federated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Route: /fl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21208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Privacy-preserving collaborative learning across 4 sector clients. Each client trains locally and shares only gradients — never raw portfolio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4 sector clients: Banking(15) · Finance(10) · IT(6) · Others(19)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Strategy comparison: FedProx vs FedAvg convergence (50 rounds)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58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Privacy dashboard: ε=8.0, δ=10⁻⁵ (DP-SGD)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70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Convergence chart: 6 lines (global + 4 clients)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8289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Fairness comparison: Sharpe with FL vs without FL per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94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Non-IID sector split — realistic, not artificial IID assumption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005840"/>
            <a:ext cx="58521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FL Algorithms &amp;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FedAvg: global = Σ (n_i/N) × local_weights_i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075688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FedProx: adds proximal term μ||w − w_global||² to local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42615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DP-SGD: clip gradients to norm C, add N(0, σ²C²) noise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9544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Privacy calibration: (ε=8.0, δ=10⁻⁵) — mathematical guarantee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76472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Custom implementation in PyTorch (src/federated/)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34340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4 clients are non-IID by design (banking ≠ IT behavior)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910327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All 4 clients show improved Sharpe with FL vs isolated 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★  DP-SGD privacy from scratch — solves real regulatory constraint (SEBI/GDPR data sharing)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BBF24"/>
                </a:solidFill>
              </a:rPr>
              <a:t>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Route: /sentiment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21208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Real-time financial news analysis using FinBERT. Live Google News headlines processed every 3 minutes — sentiment adjusts portfolio weights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Live badge + auto-refresh every 3 min (no page reload)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22 RSS queries → batch FinBERT → per-headline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58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3-tab view: News Feed / Portfolio Impact / Sector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70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Manual text analysis box — type any text, get instant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8289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High-impact alerts: |score| &gt; 0.3 filtered automatically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94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Trend chart persisted in localStorage across page refreshes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005840"/>
            <a:ext cx="58521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NLP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Model: ProsusAI/finbert — BERT fine-tuned on financial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075688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Output: score ∈ [-1,+1] + positive/neutral/negative probabilities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42615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Weight adjust: w_adj = w_base × (1 + 0.1 × sentiment_signal)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9544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Concurrent RSS fetching: 22 async HTTP requests (feedparser)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76472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Batch inference: predict_batch(texts, batch_size=16) — GPU/CPU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34340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Cache TTL: 3 min — avoids re-running FinBERT on same headlines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910327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New headlines tracked via Set&lt;string&gt; → '+N New' badge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★  Real live headlines + FinBERT scores directly linked to portfolio weight adjustments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0B981"/>
                </a:solidFill>
              </a:rPr>
              <a:t>Graph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Route: /graph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21208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Interactive force-directed network of 44 NIFTY stocks. Demonstrates T-GAT's input graph — 3 edge types: sector, supply-chain, and price correlation.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Force-directed physics: 150 frames, then stabilizes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44 nodes: size=degree, color=sector (10 unique colors)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58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3 edge types (toggleable): Sector · Supply Chain ·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70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Click any node → right panel: sector, connections, neighbors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8289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Moving data packets animate along active edges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94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Graph stats: density, avg degree, edge counts per 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005840"/>
            <a:ext cx="58521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Graph Construction &amp; T-GAT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Sector edges: same-NIFTY-sector stocks fully connected (~160)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075688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Supply-chain: 30 manually curated B2B relationships (~54 edges)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42615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Correlation edges: |Pearson(60-day)| &gt; 0.4 (dynamic)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9544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T-GAT: separate GATConv per edge type → attention weights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76472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GRU layer: temporal encoding of embedding sequence (t-k…t)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34340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Output: 64-dim embedding per stock (vs 21-dim raw features)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910327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Custom physics engine in TypeScript — no D3.js dependency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★  3 edge types + T-GAT attention — captures dynamics no correlation matrix can represent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72A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8BDF8"/>
                </a:solidFill>
              </a:rPr>
              <a:t>Pipeline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4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Route: /workflow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21208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Animated end-to-end system visualization. 15 component nodes, 19 connections, 9 sequential stages — no API dependency, always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15 nodes spanning all system layers (Data → RL → FL → Output)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19 Bezier edges with animated data packet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587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9-stage sequential animation (1.8s per stage)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70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Play / Pause / Reset / Stage-jump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8289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Click any node → technical spec (inputs, outputs, details)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94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✦  System stats panel: 246 tests, ε=8 privacy, 44 stocks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005840"/>
            <a:ext cx="58521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Animation &amp;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100% client-side — no API calls, always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075688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SVG native rendering: nodes, edges, arrowheads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642615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CSS flowDash keyframe — dashed edge animation (GPU)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9544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SVG animateMotion — white packets travel along 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76472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Framer Motion: stage label fade + slide (0.3s transitions)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34340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Stage sequence: Data→Features→Graph→T-GAT→RL Env→5 Agents→Ensemble→FL→Output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910327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◆  Progress stepper: 9 dots, green fill on completion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0F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★  Interactive system architecture diagram — replaces static slide, works without backend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Full-stack modern ML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8346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8346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React 19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Vite 8  (build tool)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Tailwind CSS v4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Recharts 3.8  (all charts)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Framer Motion 12  (animations)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TanStack Query 5  (API state)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834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Zustand 5  (global state)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React Router v7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143000"/>
            <a:ext cx="28346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143000"/>
            <a:ext cx="2834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Backend /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FastAPI 0.104+  (REST API)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Uvicorn  (ASGI server)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788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Pydantic v2  (validation)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337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Python 3.11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86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17 API endpoints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434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CSV cache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9834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120s timeout (heavy routes)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CORS + error middleware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1143000"/>
            <a:ext cx="28346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7960" y="1143000"/>
            <a:ext cx="283464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ML / Deep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PyTorch 2.1+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PyTorch Geometric 2.4+  (GNNs)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788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Stable-Baselines3 2.2+  (RL)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337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Transformers 4.35+  (FinBERT)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886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Gymnasium 0.29+  (RL env)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434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NumPy · Pandas · SciPy · Sklearn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9834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yfinance  (price data)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feedparser  (news RSS)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46920" y="1143000"/>
            <a:ext cx="28346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46920" y="1143000"/>
            <a:ext cx="283464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</a:rPr>
              <a:t>Testing &amp; Infra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pytest 7.4+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22402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httpx  (API testing)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2788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246 test cases  (14 files)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33375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Docker + docker-compose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886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PostgreSQL 16  (optional)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434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SQLAlchemy 2.0+  (ORM)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498347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W&amp;B  (experiment tracking)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8FAFC"/>
                </a:solidFill>
              </a:rPr>
              <a:t>• configs/base.yaml  (hyperparams)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Key Results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Validation on real NIFTY 50 data — 2022–2025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1.87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</a:rPr>
              <a:t>Sharpe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EXCEPTIONAL
(threshold &gt;1.5)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657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463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8BDF8"/>
                </a:solidFill>
              </a:rPr>
              <a:t>28.4%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</a:rPr>
              <a:t>Annual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432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Validated on
2024–2025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657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6576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630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BBF24"/>
                </a:solidFill>
              </a:rPr>
              <a:t>14.2%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</a:rPr>
              <a:t>Volatility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432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MODERATE RISK
(controlled)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3657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36576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2335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7171"/>
                </a:solidFill>
              </a:rPr>
              <a:t>-11.3%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92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</a:rPr>
              <a:t>Max Drawdown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30351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ACCEPTABLE
(threshold &lt;20%)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749039"/>
            <a:ext cx="3657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749039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02335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82%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892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</a:rPr>
              <a:t>Survival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30351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Under COVID
crash scenario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749039"/>
            <a:ext cx="3657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749039"/>
            <a:ext cx="36576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02335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A78BFA"/>
                </a:solidFill>
              </a:rPr>
              <a:t>ε=8.0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92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</a:rPr>
              <a:t>FL Privacy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30351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DP-SGD guarantee
(δ=10⁻⁵)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246 / 246 Tests Passing  ·  ~20,000 lines of code  ·  44 NIFTY stocks  ·  500 RL episodes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Future Work — Remaining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Deployment maturity, production readiness, and advanced tooling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772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280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Portfolio Growth What-If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Backend /api/portfolio-growth is ready. Frontend panel pending — time-slider for 1M–5Y projection with Portfolio vs NIFTY vs FD comparison.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9424"/>
            <a:ext cx="11430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49424"/>
            <a:ext cx="73152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78024"/>
            <a:ext cx="77724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78024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3408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Settings &amp; Configuration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7066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Sidebar button exists but has no route. Will enable: RL algorithm selection, refresh interval control, CSV/PDF export, alert thresholds.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10128"/>
            <a:ext cx="11430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310128"/>
            <a:ext cx="73152" cy="960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38728"/>
            <a:ext cx="777240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3872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015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PostgreSQL Persistence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673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SQLAlchemy ORM schema is defined. Wiring actual DB read/write will enable multi-session portfolio history, multi-user support, and audit trail.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70831"/>
            <a:ext cx="11430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70831"/>
            <a:ext cx="73152" cy="960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99431"/>
            <a:ext cx="77724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99431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46227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JWT Auth &amp; Role-Based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828031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No login system currently. Planned: JWT authentication, read-only vs admin roles, per-user portfolio strategy isolation.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431536"/>
            <a:ext cx="11430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431536"/>
            <a:ext cx="73152" cy="9601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660136"/>
            <a:ext cx="777240" cy="365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660136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52297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W&amp;B Experiment Tracker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8887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Backend already supports wandb logging (optional). Active integration will enable live training dashboard, hyperparameter sweeps, model versioning.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What FINQUANT-NEXUS v4 achieves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✓  Unified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Single system combining RL, GNN, Federated Learning, and Sentiment NLP — no existing open-source tool integrates all four.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9424"/>
            <a:ext cx="11430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249424"/>
            <a:ext cx="73152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✓  Real-World Data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06624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10 years of actual NIFTY 50 price data, live Google News feeds, and a true train/validate temporal split — not synthetic benchmarks.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10128"/>
            <a:ext cx="11430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310128"/>
            <a:ext cx="73152" cy="960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0156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✓  Privacy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6732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DP-SGD with (ε=8.0, δ=10⁻⁵) ensures collaborative learning without exposing any client's raw trade data — directly addresses SEBI constraints.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70831"/>
            <a:ext cx="11430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370831"/>
            <a:ext cx="73152" cy="9601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62271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✓  Risk-Aware, Not Just Return-Optimized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28031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Monte Carlo stress testing against 4 real crash scenarios (2008, COVID, Flash) — portfolio survives 82%+ under COVID conditions.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31536"/>
            <a:ext cx="1143000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431536"/>
            <a:ext cx="73152" cy="960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2297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✓  Production-Ready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8873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7 interactive tabs, 246 tests passing, Docker support, FastAPI backend — not a research prototype, a deployable platform.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INDUSTRY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Forensic Cybertech Pvt. Ltd.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011680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AIML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AI / ML  |  Cybersecurity Domain  |  Active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539496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64008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My Work at Forensic Cybertech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</a:rPr>
              <a:t>AI Log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5351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Design and build end-to-end pipelines that ingest, parse, and analyze cybersecurity logs at scale. Automates threat pattern detection that previously required manual analyst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404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404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</a:rPr>
              <a:t>AI Models for Cyber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879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Train and deploy ML models for anomaly detection, malware classification, and intrusion detection on real network and system log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74920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74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</a:rPr>
              <a:t>AI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42239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Build autonomous agents that reason over security events, correlate indicators of compromise (IOCs), and recommend or execute response actions — enhancing SOC team efficiency.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011680"/>
            <a:ext cx="566928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011680"/>
            <a:ext cx="64008" cy="43891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103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Domain Focus &amp; Impact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606040"/>
            <a:ext cx="5394960" cy="1097280"/>
          </a:xfrm>
          <a:prstGeom prst="rect">
            <a:avLst/>
          </a:prstGeom>
          <a:solidFill>
            <a:srgbClr val="0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2606040"/>
            <a:ext cx="54864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Efficiency Enhancement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04495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AI-driven automation reduces manual effort for security analysts — faster triage, fewer false positives, shorter incident response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840480"/>
            <a:ext cx="5394960" cy="1097280"/>
          </a:xfrm>
          <a:prstGeom prst="rect">
            <a:avLst/>
          </a:prstGeom>
          <a:solidFill>
            <a:srgbClr val="0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840480"/>
            <a:ext cx="54864" cy="1097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Real-World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27939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Pipelines and models are built for production cybersecurity environments — handling live log streams and real threat intelligence feeds.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074920"/>
            <a:ext cx="5394960" cy="1097280"/>
          </a:xfrm>
          <a:prstGeom prst="rect">
            <a:avLst/>
          </a:prstGeom>
          <a:solidFill>
            <a:srgbClr val="0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5074920"/>
            <a:ext cx="54864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166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Bridging ML +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51383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Applies the same ML techniques from academic projects (RL agents, NLP, pipelines) directly to enterprise-grade cybersecurity problems.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06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6B6D4"/>
                </a:solidFill>
              </a:rPr>
              <a:t>Forensic Cybertech Pvt. Ltd.  —  Leveraging AI to strengthen cybersecurity operations and reduce analyst workload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0B98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94A3B8"/>
                </a:solidFill>
              </a:rPr>
              <a:t>Open for Questions &amp; 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11274552" cy="91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FAFC"/>
                </a:solidFill>
              </a:rPr>
              <a:t>Praveen Rawal  ·  M.Tech DSML 2nd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</a:rPr>
              <a:t>FINQUANT-NEXUS v4  —  Self-Optimizing Federated Portfolio Intelligence Platform for NIFTY 50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120640"/>
            <a:ext cx="173736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1.87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Sharpe Ratio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5120640"/>
            <a:ext cx="173736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5212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28.4%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5760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Annual Return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5120640"/>
            <a:ext cx="173736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5212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760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COVID Survival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5120640"/>
            <a:ext cx="173736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5212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ε=8.0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5760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FL Privacy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5120640"/>
            <a:ext cx="173736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5212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246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760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Tests Passing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5120640"/>
            <a:ext cx="173736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5212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5760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Dashboard Tabs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